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ontserrat"/>
              </a:rPr>
              <a:t>Presença Digital Profissional
para Negócios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Manual de Formação Prática · Canva · Redes Sociais · Email · Integração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Índice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11 módulos · da identidade visual ao plano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0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Introdução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1 —</a:t>
            </a:r>
            <a:r>
              <a:rPr lang="en-GB"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lang="en-GB" sz="1600" dirty="0">
                <a:solidFill>
                  <a:srgbClr val="2A2A2A"/>
                </a:solidFill>
                <a:latin typeface="Open Sans"/>
              </a:rPr>
              <a:t>Email Corporativo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</a:t>
            </a:r>
            <a:r>
              <a:rPr lang="en-GB"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2 — </a:t>
            </a:r>
            <a:r>
              <a:rPr lang="en-GB" sz="1600" dirty="0" err="1">
                <a:solidFill>
                  <a:srgbClr val="2A2A2A"/>
                </a:solidFill>
                <a:latin typeface="Open Sans"/>
              </a:rPr>
              <a:t>Integração</a:t>
            </a:r>
            <a:r>
              <a:rPr lang="en-GB" sz="1600" dirty="0">
                <a:solidFill>
                  <a:srgbClr val="2A2A2A"/>
                </a:solidFill>
                <a:latin typeface="Open Sans"/>
              </a:rPr>
              <a:t> e </a:t>
            </a:r>
            <a:r>
              <a:rPr lang="en-GB" sz="1600" dirty="0" err="1">
                <a:solidFill>
                  <a:srgbClr val="2A2A2A"/>
                </a:solidFill>
                <a:latin typeface="Open Sans"/>
              </a:rPr>
              <a:t>Consistência</a:t>
            </a:r>
            <a:endParaRPr lang="en-GB"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rgbClr val="2A2A2A"/>
                </a:solidFill>
                <a:latin typeface="Open Sans"/>
              </a:rPr>
              <a:t>•  3 — 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Facebook: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Perfil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Profissional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lang="en-GB" sz="1600" b="0" dirty="0">
                <a:solidFill>
                  <a:srgbClr val="2A2A2A"/>
                </a:solidFill>
                <a:latin typeface="Open Sans"/>
              </a:rPr>
              <a:t>4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LinkedIn: Rede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Profissional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lang="en-GB" sz="1600" b="0" dirty="0">
                <a:solidFill>
                  <a:srgbClr val="2A2A2A"/>
                </a:solidFill>
                <a:latin typeface="Open Sans"/>
              </a:rPr>
              <a:t>5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Instagram: Visual e Engagement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lang="en-GB" sz="1600" dirty="0">
                <a:solidFill>
                  <a:srgbClr val="2A2A2A"/>
                </a:solidFill>
                <a:latin typeface="Open Sans"/>
              </a:rPr>
              <a:t>6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WhatsApp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lang="en-GB" sz="1600" b="0" dirty="0">
                <a:solidFill>
                  <a:srgbClr val="2A2A2A"/>
                </a:solidFill>
                <a:latin typeface="Open Sans"/>
              </a:rPr>
              <a:t>7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</a:t>
            </a:r>
            <a:r>
              <a:rPr lang="en-GB" sz="1600" dirty="0">
                <a:solidFill>
                  <a:srgbClr val="2A2A2A"/>
                </a:solidFill>
                <a:latin typeface="Open Sans"/>
              </a:rPr>
              <a:t>Canva: </a:t>
            </a:r>
            <a:r>
              <a:rPr lang="en-GB" sz="1600" dirty="0" err="1">
                <a:solidFill>
                  <a:srgbClr val="2A2A2A"/>
                </a:solidFill>
                <a:latin typeface="Open Sans"/>
              </a:rPr>
              <a:t>Identidade</a:t>
            </a:r>
            <a:r>
              <a:rPr lang="en-GB" sz="1600" dirty="0">
                <a:solidFill>
                  <a:srgbClr val="2A2A2A"/>
                </a:solidFill>
                <a:latin typeface="Open Sans"/>
              </a:rPr>
              <a:t> Visual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8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Gestão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Planeamento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9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Sessão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Prática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10 — Plano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Pessoal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11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Recursos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Anexos</a:t>
            </a:r>
            <a:endParaRPr sz="1600" b="0" dirty="0">
              <a:solidFill>
                <a:srgbClr val="2A2A2A"/>
              </a:solidFill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4AC8C1-F1D0-50A2-5711-D19C35DB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311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Porquê investir numa presença digital profissional?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Objetivos da Formação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No final deste percurso será capaz de…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Criar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aplicar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uma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identidade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visual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consistente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(Canva)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Otimizar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perfis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principais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plataformas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Configurar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WhatsApp Business e email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corporativo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Integrar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canais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nomes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visuais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mensagens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alinhados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Planear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conteúdo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medir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resultados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KPIs claros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Sair com um plano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pessoal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 30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dias</a:t>
            </a:r>
            <a:endParaRPr sz="1600" b="0" dirty="0">
              <a:solidFill>
                <a:srgbClr val="2A2A2A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09845-099E-B4C7-347B-DA3928B6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A Importância da Presença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Primeira impressão online = credibilidade do negócio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01168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Confiança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Clientes procuram online antes de comprar. Perfis incompletos afastam.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01168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Consistência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Mesma marca em todos os canais reforça reconhecimento e profissionalismo.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01168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Oportunidade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Contacto direto (WhatsApp, email, DM) transforma visitas em negócios.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01168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Competição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Quem não está bem representado online perde para quem está.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Identidade visual e consistência de marca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D5D5D"/>
                </a:solidFill>
                <a:latin typeface="Open Sans"/>
              </a:rPr>
              <a:t>Cores, tipografia, tom de voz e logótipo devem ser os mesmos em Canva, redes, WhatsApp e email. Começamos pelo Canva porque aí criamos os elementos que vamos reutilizar em todas as plataformas.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CDDAEB5-9FE2-F598-A463-94CD5351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215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1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Email Corporativo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Credibilidade: nome@suaempresa.com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1912F4-0052-84C5-1DA3-D36A3A847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137" y="1467783"/>
            <a:ext cx="3922433" cy="39224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6.1–6.4 Domínio e Estrutura de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Email gratuito vs domínio próprio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Adquirir e configurar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400" b="0" dirty="0" err="1">
                <a:solidFill>
                  <a:srgbClr val="2A2A2A"/>
                </a:solidFill>
                <a:latin typeface="Open Sans"/>
              </a:rPr>
              <a:t>Registar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400" b="0" dirty="0" err="1">
                <a:solidFill>
                  <a:srgbClr val="2A2A2A"/>
                </a:solidFill>
                <a:latin typeface="Open Sans"/>
              </a:rPr>
              <a:t>domínio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 (.</a:t>
            </a:r>
            <a:r>
              <a:rPr lang="en-GB" sz="1400" dirty="0">
                <a:solidFill>
                  <a:srgbClr val="2A2A2A"/>
                </a:solidFill>
                <a:latin typeface="Open Sans"/>
              </a:rPr>
              <a:t>co.mz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, .com…)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400" b="0" dirty="0" err="1">
                <a:solidFill>
                  <a:srgbClr val="2A2A2A"/>
                </a:solidFill>
                <a:latin typeface="Open Sans"/>
              </a:rPr>
              <a:t>Fornecedores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: GoDaddy, </a:t>
            </a:r>
            <a:r>
              <a:rPr sz="1400" b="0" dirty="0" err="1">
                <a:solidFill>
                  <a:srgbClr val="2A2A2A"/>
                </a:solidFill>
                <a:latin typeface="Open Sans"/>
              </a:rPr>
              <a:t>Hostinger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, IONOS, PT Server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A2A2A"/>
                </a:solidFill>
                <a:latin typeface="Open Sans"/>
              </a:rPr>
              <a:t>•  Google Workspace / Microsoft 365 / Zoho / hosting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400" b="0" dirty="0" err="1">
                <a:solidFill>
                  <a:srgbClr val="2A2A2A"/>
                </a:solidFill>
                <a:latin typeface="Open Sans"/>
              </a:rPr>
              <a:t>Exemplo</a:t>
            </a:r>
            <a:r>
              <a:rPr sz="1400" b="0" dirty="0">
                <a:solidFill>
                  <a:srgbClr val="2A2A2A"/>
                </a:solidFill>
                <a:latin typeface="Open Sans"/>
              </a:rPr>
              <a:t>: nome@suaempresa.com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Estrutura recomendada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geral@empresa.com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comercial@empresa.com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suporte@empresa.com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seunome@empresa.com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01A5-E3B8-2838-E2A7-72D9E927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6.5–6.8 Assinatura Profissional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Canva 600×200 px + instalação no cliente de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Elementos: Nome · Cargo · Empresa · Telefone/WhatsApp · Email · Website · Redes · Logo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Criar no Canva (cores da marca) → exportar PNG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Instalar: Gmail (Definições &gt; Geral) · Outlook (Opções &gt; Assinaturas) · Apple Mail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Ferramentas: HubSpot Signature · WiseStamp · Newoldstamp · MySignature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D0C032-1027-9E09-3F66-1CBE6D8A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6.9–6.10 Boas Práticas e Continuidade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Comunicar bem e manter contacto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Assunto claro · saudação profissional · corpo objetivo · despedida cordial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Sempre com assinatura · responder em &lt; 24h · evitar Reply All desnecessário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Backup de contactos + sincronização entre dispositivos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CRM básico (Google Contacts, HubSpot)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Templates: boas-vindas, agradecimento, follow-up, newsletter (se aplicável)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0AB2EA-0F3E-9E5A-AABB-2C342D1A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Email profissional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Pesquisar disponibilidade de domínio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assinatura profissional no Canva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Instalar assinatura no email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Escrever template de email profissional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0AFCDD-39F7-43E9-F614-8A3A67474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103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2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Integração e 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Uma marca · vários canais · mesma experiência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7.1–7.2 Identidade e @ Consistentes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Checklist de alinhamento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Mesma foto de perfil em todas as plataformas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Mesmas cores, logo e tom de comunicação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Mesmo @ (ou variação próxima) em todas as redes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Facebook: @___________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Instagram: @___________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LinkedIn: /in/___________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Website: www.___________.com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Email: ______@_________.com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E2CDE-B690-78BE-7CD6-95B580D65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7.3–7.5 Cross-Promotion e Hub de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Ligue os canais entre 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Cross-promotion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Mencionar Instagram no Facebook, partilhar LinkedIn, QR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Dados iguais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Horários, contactos, morada e website sincronizados.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 err="1">
                <a:solidFill>
                  <a:srgbClr val="0B5BA2"/>
                </a:solidFill>
                <a:latin typeface="Montserrat"/>
              </a:rPr>
              <a:t>Linktree</a:t>
            </a:r>
            <a:r>
              <a:rPr sz="1300" b="1" dirty="0">
                <a:solidFill>
                  <a:srgbClr val="0B5BA2"/>
                </a:solidFill>
                <a:latin typeface="Montserrat"/>
              </a:rPr>
              <a:t> / </a:t>
            </a:r>
            <a:r>
              <a:rPr sz="1300" b="1" dirty="0" err="1">
                <a:solidFill>
                  <a:srgbClr val="0B5BA2"/>
                </a:solidFill>
                <a:latin typeface="Montserrat"/>
              </a:rPr>
              <a:t>Bio.link</a:t>
            </a:r>
            <a:endParaRPr sz="1300" b="1" dirty="0">
              <a:solidFill>
                <a:srgbClr val="0B5BA2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Hub único: site, redes, WhatsApp, email, catálogo, reservas.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Auditoria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Rever mensalmente se algo ficou desatualizado.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D0CEA6-CC7F-CCB6-6BD9-49E35B5C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Consistência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Fazer auditoria de consistência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lista de todos os perfis/URLs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Linktree (ou similar) com todos os canais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B36C77-6CFE-6930-94E1-740D29240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103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3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69872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Facebook — </a:t>
            </a:r>
            <a:r>
              <a:rPr sz="3600" b="1" dirty="0" err="1">
                <a:solidFill>
                  <a:srgbClr val="FFFFFF"/>
                </a:solidFill>
                <a:latin typeface="Montserrat"/>
              </a:rPr>
              <a:t>Perfil</a:t>
            </a:r>
            <a:r>
              <a:rPr sz="3600" b="1" dirty="0">
                <a:solidFill>
                  <a:srgbClr val="FFFFFF"/>
                </a:solidFill>
                <a:latin typeface="Montserrat"/>
              </a:rPr>
              <a:t> </a:t>
            </a:r>
            <a:endParaRPr lang="en-GB" sz="3600" b="1" dirty="0">
              <a:solidFill>
                <a:srgbClr val="FFFFFF"/>
              </a:solidFill>
              <a:latin typeface="Montserrat"/>
            </a:endParaRPr>
          </a:p>
          <a:p>
            <a:r>
              <a:rPr sz="3600" b="1" dirty="0" err="1">
                <a:solidFill>
                  <a:srgbClr val="FFFFFF"/>
                </a:solidFill>
                <a:latin typeface="Montserrat"/>
              </a:rPr>
              <a:t>Profissional</a:t>
            </a:r>
            <a:endParaRPr sz="3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Página de empresa clara, completa e ativa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644530-3A94-27D9-CFC7-D8C904E47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760" y="681487"/>
            <a:ext cx="5495026" cy="54950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2.1 Configuração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Perfil pessoal ≠ Página empresarial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Perfil Pessoal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Uso pessoal / rede de amigos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Não ideal para publicidade paga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Limitações de insights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Mistura vida pessoal e negócio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Página Empresarial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Representa o negócio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Acesso a Meta Business Suite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Avaliações, CTA, loja, insights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Vários administradores possíveis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DF3BCB-2D78-D85D-BD18-40DBAD55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2.2 Elementos Visuais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Reutilizar materiais criados no Canva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22760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Upload da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foto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perfil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(do Canva)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nítida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centrada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Upload da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capa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(820×312)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sem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texto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cortado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laterais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Verificar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qualidade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no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telemóvel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no desktop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Alinhar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mesma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identidade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das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outras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redes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F78511-55CC-BC89-981A-7FE7267BA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2.3 Informações Essenciais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Complete 100% do perfil — é a sua vitrine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865298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Nome da página — claro e encontrável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Categoria do negócio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Descrição curta (≈160 caracteres) + Sobre completo (história e proposta de valor)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Horário de funcionamento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Localização (se aplicável)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Website e contactos (telefone, email, WhatsApp)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8F2BF7-CC27-2ACC-33DB-9379B17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08" y="1230890"/>
            <a:ext cx="6167984" cy="3763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087A0-427D-5345-8A8F-98FAA620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2.4 Secções a Ativar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Funcionalidades que geram confiança e conversão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Serviços / 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Mostre o que vende de forma clara.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Avaliações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Ative e responda sempre — positivo ou negativo.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Loja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Se aplicável, ligue catálogo ou loja.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28600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Botão 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Mensagem, ligar, reservar, comprar…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7B3E28-E9C3-4A27-11AD-E9E04470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2.5–2.6 Boas Práticas e 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Frequência + relevância = crescimento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@ profissional e URL personalizado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Responder mensagens em &lt; 24h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Publicar mínimo 3×/semana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2–3 hashtags relevantes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Tom alinhado com a marca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Conteúdo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Tipos: educativo, oferta, bastidores, prova social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Horários: testar com Insights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Interagir com comentários e partilhas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Facebook Insights: alcance, engagement, audiência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36D66B-F044-B7FB-369A-195EF4628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Otimizar a Página de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Otimizar página (visuais + informações completas)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Preencher todas as secções essenciais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calendário de 1 semana de publicações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D17694-5316-27E7-9FCA-F1225B51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53D970-6D36-BCCA-999F-913F97F5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22" y="56267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327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4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40377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LinkedIn — Rede </a:t>
            </a:r>
            <a:endParaRPr lang="en-GB" sz="3600" b="1" dirty="0">
              <a:solidFill>
                <a:srgbClr val="FFFFFF"/>
              </a:solidFill>
              <a:latin typeface="Montserrat"/>
            </a:endParaRPr>
          </a:p>
          <a:p>
            <a:r>
              <a:rPr sz="3600" b="1" dirty="0" err="1">
                <a:solidFill>
                  <a:srgbClr val="FFFFFF"/>
                </a:solidFill>
                <a:latin typeface="Montserrat"/>
              </a:rPr>
              <a:t>Profissional</a:t>
            </a:r>
            <a:endParaRPr sz="3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Networking, autoridade e oportunidades de negócio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8DF189-3F26-1AE4-6434-E16E231DF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124" y="1697035"/>
            <a:ext cx="3463929" cy="34639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3.1 Importância do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A rede profissional mais relevante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Rede profissional nº 1 a nível global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Perfil pessoal vs Página de empresa — ambos importam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Oportunidades: networking, recrutamento, parcerias, leads B2B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Conteúdo de valor constrói autoridade mais depressa do que publicidade isolada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3.2 Perfil Pessoal Profissional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O seu CV vivo — otimize cada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615132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Foto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perfil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capa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(do Canva)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Título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impactante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até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220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caracteres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Resumo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/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Sobre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otimizado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quem é, o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que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faz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para quem,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resultado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Experiência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profissional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detalhada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resultados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só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tarefas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Formação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certificações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Competências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mínimo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5 (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peça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validações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85C090-E179-5AAA-95FA-368C460D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25" y="1243584"/>
            <a:ext cx="6403675" cy="3632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241D8E-5E3F-BCED-10CC-57D05E201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3.3–3.4 Página de Empresa 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Presença institucional + link limpo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Página de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Criar página de empresa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Logo + capa consistentes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Slogan claro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Descrição completa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Setor, dimensão, website, especialidades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URL personalizado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URL personalizado: linkedin.com/in/seunome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Evitar números aleatórios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Usar o mesmo identificador das outras redes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Atualizar cartões e assinatura de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B9C353-EB1E-BE2F-08A0-04FB077C8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3.5–3.6 Estratégia e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Publicar + comentar + conectar com intenção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Artigos vs publicações curtas — misture formatos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Frequência ideal: 2–5×/semana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Comentar e interagir em posts relevantes (antes de vender)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Entrar em grupos profissionais do seu setor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Pedir e dar recomendações genuínas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Pedidos de conexão com mensagem personalizada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Construir autoridade com consistência, não com spam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CB401A-5EF1-0550-B12E-AC47D865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LinkedIn em 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Otimizar perfil pessoal LinkedIn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Criar/otimizar página de empresa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Escrever a primeira publicação profissional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6C313C-5754-A9A2-1E66-F4C5C13A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327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5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4280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Instagram — Visual e </a:t>
            </a:r>
            <a:endParaRPr lang="en-GB" sz="3600" b="1" dirty="0">
              <a:solidFill>
                <a:srgbClr val="FFFFFF"/>
              </a:solidFill>
              <a:latin typeface="Montserrat"/>
            </a:endParaRPr>
          </a:p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Estética, frequência e comunidade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996ED7-ECB8-9EBE-ED20-116A93FAD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0405" y1="30811" x2="60405" y2="30811"/>
                        <a14:foregroundMark x1="45811" y1="30135" x2="61486" y2="31351"/>
                        <a14:foregroundMark x1="62568" y1="32568" x2="63108" y2="40135"/>
                        <a14:foregroundMark x1="63108" y1="40135" x2="51757" y2="50541"/>
                        <a14:foregroundMark x1="51757" y1="50541" x2="43919" y2="36351"/>
                        <a14:foregroundMark x1="43919" y1="36351" x2="47162" y2="32973"/>
                        <a14:foregroundMark x1="47432" y1="30541" x2="41757" y2="37297"/>
                        <a14:foregroundMark x1="41757" y1="37297" x2="37568" y2="53378"/>
                        <a14:foregroundMark x1="37568" y1="53378" x2="31216" y2="38108"/>
                        <a14:foregroundMark x1="31216" y1="38108" x2="53243" y2="34595"/>
                        <a14:foregroundMark x1="53243" y1="34595" x2="65676" y2="47703"/>
                        <a14:foregroundMark x1="65676" y1="47703" x2="55811" y2="54324"/>
                        <a14:foregroundMark x1="55811" y1="54324" x2="62162" y2="49730"/>
                        <a14:foregroundMark x1="62162" y1="49730" x2="70000" y2="47162"/>
                        <a14:foregroundMark x1="70000" y1="47162" x2="68243" y2="59595"/>
                        <a14:foregroundMark x1="68243" y1="59595" x2="62568" y2="65270"/>
                        <a14:foregroundMark x1="62568" y1="65270" x2="50676" y2="66892"/>
                        <a14:foregroundMark x1="50676" y1="66892" x2="37703" y2="65270"/>
                        <a14:foregroundMark x1="37703" y1="65270" x2="32703" y2="58378"/>
                        <a14:foregroundMark x1="32703" y1="58378" x2="32297" y2="52838"/>
                        <a14:foregroundMark x1="62027" y1="31081" x2="69324" y2="39324"/>
                        <a14:foregroundMark x1="69324" y1="39324" x2="70946" y2="48243"/>
                        <a14:foregroundMark x1="70946" y1="48243" x2="69730" y2="57432"/>
                        <a14:foregroundMark x1="69730" y1="57432" x2="63243" y2="68514"/>
                        <a14:foregroundMark x1="63243" y1="68514" x2="38784" y2="69189"/>
                        <a14:foregroundMark x1="38784" y1="69189" x2="31622" y2="60811"/>
                        <a14:foregroundMark x1="31622" y1="60811" x2="30811" y2="43378"/>
                        <a14:foregroundMark x1="30811" y1="43378" x2="32838" y2="35000"/>
                        <a14:foregroundMark x1="32838" y1="35000" x2="39324" y2="30676"/>
                        <a14:foregroundMark x1="39324" y1="30676" x2="47297" y2="30135"/>
                        <a14:foregroundMark x1="47297" y1="30135" x2="47297" y2="30135"/>
                        <a14:foregroundMark x1="48784" y1="40946" x2="41351" y2="45405"/>
                        <a14:foregroundMark x1="41351" y1="45405" x2="39595" y2="52162"/>
                        <a14:foregroundMark x1="39595" y1="52162" x2="46081" y2="60270"/>
                        <a14:foregroundMark x1="46081" y1="60270" x2="56892" y2="56622"/>
                        <a14:foregroundMark x1="56892" y1="56622" x2="60135" y2="54054"/>
                        <a14:foregroundMark x1="35541" y1="29595" x2="38108" y2="26351"/>
                        <a14:backgroundMark x1="36351" y1="30405" x2="36351" y2="304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99871" y="834803"/>
            <a:ext cx="4951562" cy="495156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4.1–4.2 Conta e Perfil Otimizado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Conta profissional = ferramentas de negócio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Conta profissional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Converter conta pessoal → profissional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Acesso a Insights e contactos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Categoria de negócio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Botões de contacto / email / direção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Perfil otimizado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Foto de perfil (Canva)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@ consistente com outras redes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Nome pesquisável + bio (150 car.)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Link na bio (Linktree ou similar)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B5EDEA-07D6-89AD-CCCA-329BAC5C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4.3–4.4 Estética do Feed e Tipos de 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O grid é a sua montra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1031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Publicações permanentes. Planeie o grid (ex.: 9 posts).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1031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Conteúdo 24h. Destaques: Sobre, Serviços, FAQ, Contacto.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1031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Reels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Vídeos curtos — maior alcance orgânico atual.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1031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Guias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Curadoria de conteúdos por 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5BA2"/>
                </a:solidFill>
                <a:latin typeface="Montserrat"/>
              </a:rPr>
              <a:t>Consistência visual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D5D5D"/>
                </a:solidFill>
                <a:latin typeface="Open Sans"/>
              </a:rPr>
              <a:t>Use a paleta do Canva, alterne tipos de conteúdo e organize destaques com capas uniformes.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24A8B2-270E-B213-05DE-4A963207A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4.5–4.7 Publicação, Stories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Estratégia + medição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5245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Frequência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mínimo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3–5×/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semana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no feed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Legendas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envolventes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+ 10–15 hashtags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estratégicas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+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geolocalização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Stories: templates Canva +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enquetes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perguntas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Destaques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essenciais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Sobre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· Serviços/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Produtos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·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Testemunhos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· Contacto · FAQ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Insights: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alcance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engagement rate,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melhores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horários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demografia</a:t>
            </a:r>
            <a:endParaRPr sz="1600" b="0" dirty="0">
              <a:solidFill>
                <a:srgbClr val="2A2A2A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3CF46-F45A-3777-85AB-646F10E6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68" y="1280160"/>
            <a:ext cx="6284232" cy="3745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3D02AE-9082-C854-7710-86307DBA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Instagram profissional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Converter para conta profissional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bio otimizada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5 destaques com capas do Canva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Planear grid de 9 publicações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062E53-B5D4-DC77-75D7-26F243387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7480913-AA62-7A4D-B800-34CC11A16D0E}"/>
              </a:ext>
            </a:extLst>
          </p:cNvPr>
          <p:cNvSpPr/>
          <p:nvPr/>
        </p:nvSpPr>
        <p:spPr>
          <a:xfrm>
            <a:off x="7567073" y="1758494"/>
            <a:ext cx="3165895" cy="316589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119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6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WhatsApp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Comunicação direta, rápida e profissional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5545B-152A-1612-95C9-86605E567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00" b="90750" l="9375" r="90375">
                        <a14:foregroundMark x1="54750" y1="9500" x2="42125" y2="9750"/>
                        <a14:foregroundMark x1="90375" y1="48750" x2="90125" y2="54125"/>
                        <a14:foregroundMark x1="48500" y1="90750" x2="56000" y2="90125"/>
                        <a14:foregroundMark x1="9375" y1="47750" x2="9500" y2="52750"/>
                        <a14:foregroundMark x1="31000" y1="36875" x2="41000" y2="31750"/>
                        <a14:foregroundMark x1="41000" y1="31750" x2="64500" y2="31250"/>
                        <a14:foregroundMark x1="64500" y1="31250" x2="71750" y2="39500"/>
                        <a14:foregroundMark x1="71750" y1="39500" x2="72250" y2="50000"/>
                        <a14:foregroundMark x1="72250" y1="50000" x2="63875" y2="64875"/>
                        <a14:foregroundMark x1="63875" y1="64875" x2="43750" y2="68625"/>
                        <a14:foregroundMark x1="43750" y1="68625" x2="32500" y2="58000"/>
                        <a14:foregroundMark x1="32500" y1="58000" x2="41750" y2="38000"/>
                        <a14:foregroundMark x1="41750" y1="38000" x2="37875" y2="50000"/>
                        <a14:foregroundMark x1="37875" y1="50000" x2="52625" y2="47250"/>
                        <a14:foregroundMark x1="52625" y1="47250" x2="54000" y2="59875"/>
                        <a14:foregroundMark x1="65625" y1="32625" x2="55000" y2="28875"/>
                        <a14:foregroundMark x1="55000" y1="28875" x2="43375" y2="29250"/>
                        <a14:foregroundMark x1="43375" y1="29250" x2="33875" y2="36000"/>
                        <a14:foregroundMark x1="33875" y1="36000" x2="28000" y2="50250"/>
                        <a14:foregroundMark x1="28000" y1="50250" x2="28125" y2="71375"/>
                        <a14:foregroundMark x1="28125" y1="71375" x2="48125" y2="73375"/>
                        <a14:foregroundMark x1="48125" y1="73375" x2="55375" y2="72375"/>
                        <a14:foregroundMark x1="55375" y1="72375" x2="62000" y2="69375"/>
                        <a14:foregroundMark x1="62000" y1="69375" x2="71500" y2="59375"/>
                        <a14:foregroundMark x1="71500" y1="59375" x2="74000" y2="52625"/>
                        <a14:foregroundMark x1="61125" y1="57625" x2="51625" y2="56875"/>
                        <a14:foregroundMark x1="51625" y1="56875" x2="44375" y2="52625"/>
                        <a14:foregroundMark x1="44375" y1="52625" x2="44125" y2="51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1612" y="1164566"/>
            <a:ext cx="4528868" cy="45288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5.1–5.2 Business vs Normal + Perfil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Separe o canal profissional do pessoal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Vantagens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Perfil comercial dedicado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Catálogo de produtos/serviços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Mensagens automáticas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Etiquetas e respostas rápidas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Listas de transmissão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Configuração do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Foto profissional (Canva)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Nome do negócio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Descrição / Sobre + categoria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Morada, horário, website,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5E78F8-B0F0-ECAE-5C73-3F3B7765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5.3–5.5 Ferramentas Empresariais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Catálogo · Automáticas · Respostas · Etiquetas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133381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Catálogo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5+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produtos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/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serviços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foto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descrição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preço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Mensagens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saudação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+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ausência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+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respostas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rápidas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Atalhos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FAQ: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horários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preços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localização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agradecimento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Etiquetas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Novo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cliente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·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Pagamento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pendente ·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Pedido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concluído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·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Seguimento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Listas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transmissão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≠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grupos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use com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moderação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não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spam)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FEEAA7-62DF-528B-6D14-136D44F71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10"/>
          <a:stretch>
            <a:fillRect/>
          </a:stretch>
        </p:blipFill>
        <p:spPr>
          <a:xfrm>
            <a:off x="7203058" y="905256"/>
            <a:ext cx="2605176" cy="5134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6FBB9F-3BD5-1803-84A2-FE6CB2964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5.6–5.8 Escala e Profissionalismo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Tom, tempo e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Tempo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resposta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máx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. 1h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em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horário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comercial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Tom claro, cordial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alinhado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marca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Áudio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cuidado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prefira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texto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para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registo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clareza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Nunca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misturar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conversas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pessoais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com o canal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profissional</a:t>
            </a:r>
            <a:endParaRPr sz="1600" b="0" dirty="0">
              <a:solidFill>
                <a:srgbClr val="2A2A2A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EDC976-79DD-B1CA-37C7-83940A3F3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WhatsApp Business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Configurar WhatsApp Business (perfil 100%)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catálogo com 5 produtos/serviços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Programar mensagens automáticas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10 respostas rápidas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F086F9-C466-6725-B139-3F86A3056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167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</a:t>
            </a:r>
            <a:r>
              <a:rPr lang="en-GB" sz="1800" b="1" dirty="0">
                <a:solidFill>
                  <a:schemeClr val="bg1"/>
                </a:solidFill>
                <a:latin typeface="Montserrat"/>
              </a:rPr>
              <a:t>7</a:t>
            </a:r>
            <a:endParaRPr sz="18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4497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Canva — </a:t>
            </a:r>
            <a:r>
              <a:rPr sz="3600" b="1" dirty="0" err="1">
                <a:solidFill>
                  <a:srgbClr val="FFFFFF"/>
                </a:solidFill>
                <a:latin typeface="Montserrat"/>
              </a:rPr>
              <a:t>Identidade</a:t>
            </a:r>
            <a:endParaRPr lang="en-GB" sz="3600" b="1" dirty="0">
              <a:solidFill>
                <a:srgbClr val="FFFFFF"/>
              </a:solidFill>
              <a:latin typeface="Montserrat"/>
            </a:endParaRPr>
          </a:p>
          <a:p>
            <a:r>
              <a:rPr sz="3600" b="1" dirty="0">
                <a:solidFill>
                  <a:srgbClr val="FFFFFF"/>
                </a:solidFill>
                <a:latin typeface="Montserrat"/>
              </a:rPr>
              <a:t>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Criamos aqui o que vamos usar em todas as plataformas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E0E62-0CDD-9341-384E-81B2F8869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96" y="1684164"/>
            <a:ext cx="3489672" cy="34896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1.1 Introdução ao Canva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Ferramenta de design acessível para não-designers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O que é e vantagens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Editor visual drag-and-drop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Milhares de templates prontos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Brand Kit para guardar marca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Exportação PNG, JPG, PDF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Colaboração em equipa (Pro)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Gratuito vs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Gratuito: excelente para começar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Pro: Brand Kit avançado, remoção de fundo, mais stock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Comece no gratuito e evolua se precisar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Evite elementos premium se não tiver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6C2E5B-B4DB-CE83-6455-0D69CDAB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Interface e Navegação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Familiarize-se com o ambiente de trabalho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7023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Home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projetos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recentes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pesquisa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 templates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Criar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design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escolher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dimensões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ou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templates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Barra lateral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elementos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texto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uploads,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marca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Canvas central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área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de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edição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Topo —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partilhar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descarregar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,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redimensionar</a:t>
            </a:r>
            <a:endParaRPr sz="16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Dica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: organize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projetos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em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pastas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por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600" b="0" dirty="0" err="1">
                <a:solidFill>
                  <a:srgbClr val="2A2A2A"/>
                </a:solidFill>
                <a:latin typeface="Open Sans"/>
              </a:rPr>
              <a:t>plataforma</a:t>
            </a:r>
            <a:r>
              <a:rPr sz="1600" b="0" dirty="0">
                <a:solidFill>
                  <a:srgbClr val="2A2A2A"/>
                </a:solidFill>
                <a:latin typeface="Open Sans"/>
              </a:rPr>
              <a:t> (Facebook, Instagram, etc.)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135563-2D39-632D-9EC6-5E6F2693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996" y="1280160"/>
            <a:ext cx="5661804" cy="2881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C06C0E-7638-4777-D5A2-3DFB906B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1.2 Kit de Marca no Canva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Paleta · Tipografia · Logótipo · Brand 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19456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3–5 cores no máximo.
Principal, secundária, neutra, fundo.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19456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Fontes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Máximo 2–3 tipografias.
Títulos + texto + opcional acento.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19456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Logótipo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Upload em PNG com fundo transparente.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19456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Brand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Guardar tudo para reutilizar em segundos.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105AEF-8DA5-022A-032B-0392C1AE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1.3 Templates Essenciais a Criar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Dimensões corretas = qualidade em todas as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Foto de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perfil</a:t>
            </a:r>
            <a:r>
              <a:rPr sz="1700" b="0" dirty="0">
                <a:solidFill>
                  <a:srgbClr val="2A2A2A"/>
                </a:solidFill>
                <a:latin typeface="Open Sans"/>
              </a:rPr>
              <a:t>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profissional</a:t>
            </a:r>
            <a:r>
              <a:rPr sz="1700" b="0" dirty="0">
                <a:solidFill>
                  <a:srgbClr val="2A2A2A"/>
                </a:solidFill>
                <a:latin typeface="Open Sans"/>
              </a:rPr>
              <a:t> — 400×400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Capa Facebook — 820×312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Capa LinkedIn — 1584×396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Posts Instagram — 1080×1080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Stories — 1080×1920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Assinatura</a:t>
            </a:r>
            <a:r>
              <a:rPr sz="1700" b="0" dirty="0">
                <a:solidFill>
                  <a:srgbClr val="2A2A2A"/>
                </a:solidFill>
                <a:latin typeface="Open Sans"/>
              </a:rPr>
              <a:t> de email — 600×200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px</a:t>
            </a:r>
            <a:endParaRPr sz="1700" b="0" dirty="0">
              <a:solidFill>
                <a:srgbClr val="2A2A2A"/>
              </a:solidFill>
              <a:latin typeface="Open Sans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2A2A2A"/>
                </a:solidFill>
                <a:latin typeface="Open Sans"/>
              </a:rPr>
              <a:t>• 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Cartão</a:t>
            </a:r>
            <a:r>
              <a:rPr sz="1700" b="0" dirty="0">
                <a:solidFill>
                  <a:srgbClr val="2A2A2A"/>
                </a:solidFill>
                <a:latin typeface="Open Sans"/>
              </a:rPr>
              <a:t> digital de </a:t>
            </a:r>
            <a:r>
              <a:rPr sz="1700" b="0" dirty="0" err="1">
                <a:solidFill>
                  <a:srgbClr val="2A2A2A"/>
                </a:solidFill>
                <a:latin typeface="Open Sans"/>
              </a:rPr>
              <a:t>contacto</a:t>
            </a:r>
            <a:endParaRPr sz="1700" b="0" dirty="0">
              <a:solidFill>
                <a:srgbClr val="2A2A2A"/>
              </a:solidFill>
              <a:latin typeface="Open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497684-D83C-98F9-484D-B7C1D08C9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1.4 Boas Práticas no Canva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Consistência e organização poupam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Manter consistência visual (cores, fontes, margens)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Criar pasta organizada com templates reutilizáveis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Preferir elementos gratuitos se não tiver Canva Pro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Exportar no formato certo: PNG (transparência/logo), JPG (fotos/posts), PDF (impressão)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Nomear ficheiros de forma clara: marca_plataforma_tipo_v1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Não sobrecarregar designs — menos elementos = mais profissional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1860C-1327-47AA-618D-DB2CB76A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Kit de marca e primeiros visuais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o kit de marca pessoal/empresarial (cores, fontes, logo)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foto de perfil profissional (400×400)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3 templates de publicações (feed)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660CA3-2235-6FCD-791A-0B0A48F2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263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Gestão e Planeamento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Sistema &gt; motivação: ritmos e métricas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8.1–8.3 Calendário, Agendamento e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Trabalhe em lote, publique com calma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Planear mensalmente (Google Calendar, Trello, Notion, Sheets)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Agendar: Meta Business Suite · LinkedIn nativo · Buffer/Hootsuite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Batch creation: 1–2h/semana a criar conteúdo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15 min/dia para interação e respostas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Definir horários fixos na agenda — trate como compromisso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E1352E-73E7-1AA3-AEB3-EFDCFEF7E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8.4–8.5 Análise e Banco de Ideias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Medir para ajustar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Métricas-chave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Alcance e impressões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Engagement (likes, comentários, partilhas)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Crescimento de seguidores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Cliques no site / mensagens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Revisão mensal + ajustes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Categorias de conteúdo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Educacional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Promocional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Inspiracional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Bastidores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Testemunhos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Dicas / FAQs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Datas comemorativas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897F11-6871-960A-56B9-E8F7C223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Planeamento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Criar calendário de 30 dias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Agendar 1 semana de conteúdo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Definir 3 KPIs para acompanhar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93278-8D6B-46A8-FFAC-BBD4610B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215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Sessão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Exemplos reais · feedback · simulações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9.1–9.2 Casos de Sucesso e a Melhorar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Aprender pelo contraste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Sucesso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3 perfis exemplares do setor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O que fazem bem (visuais, bio, CTA)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O que podemos replicar já esta semana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A melhorar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Erros comuns: foto má, bio vazia, inconsistência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Como corrigir passo a passo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Exercício Antes / Depois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D8A60C-417A-10C8-54C3-A767FFFB8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9.3–9.4 Prática em Grupo e Simulações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Feedback construtivo + situações reais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Cada participante partilha o perfil atual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Feedback do grupo: 2 pontos fortes + 2 melhorias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Simulações: mensagem difícil no WhatsApp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Publicação de emergência / crise leve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Comentário negativo — como responder com profissionalismo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•  Email urgente — estrutura e 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2AB691-20FE-3FFE-9134-FCEA6687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194560" cy="411480"/>
          </a:xfrm>
          <a:prstGeom prst="round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EXERCÍCIO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926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5BA2"/>
                </a:solidFill>
                <a:latin typeface="Montserrat"/>
              </a:rPr>
              <a:t>Feedback e melhorias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Apresentar o seu perfil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Receber e dar feedback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2A2A"/>
                </a:solidFill>
                <a:latin typeface="Open Sans"/>
              </a:rPr>
              <a:t>•  Listar 5 melhorias para implementar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D7B5BF-DE35-5744-3647-0F81F946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620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Plano de Ação Pessoal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Da formação à execução em 30 dias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10.1 Checklist — Canva · Facebook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Marque o que já está feito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CANVA: conta · kit de marca · templates essenciais · pasta organizada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FACEBOOK: página · informações · visuais · CTA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LINKEDIN: perfil · página empresa · URL personalizado · 1ª publicação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EE01B7-1BD0-24ED-4338-02E6285FD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10.1 Checklist — Instagram · WhatsApp · Email ·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Complete a auditoria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INSTAGRAM: conta profissional · bio · destaques · grid planeado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WHATSAPP: app · perfil · catálogo · mensagens automáticas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EMAIL: domínio · email corporativo · assinatura · templates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Open Sans"/>
              </a:rPr>
              <a:t>☐  GERAL: @ consistentes · Linktree · calendário 30 dias · agendamento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CC7011-5671-5635-5290-7AB3930F8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10.2 Plano de 30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Quatro semanas com foco claro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47873" cy="25603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Semana 1 — Fundação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7355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Kit Canva · FB + IG · LinkedIn + WhatsApp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371600"/>
            <a:ext cx="2647873" cy="25603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3673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0833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Semana 2 — Conteúdo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1965960"/>
            <a:ext cx="237355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20 templates · calendário · agendar 10 posts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371600"/>
            <a:ext cx="2647873" cy="25603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1371600"/>
            <a:ext cx="2647873" cy="73152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Semana 3 —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65960"/>
            <a:ext cx="237355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Domínio · email · assinatura · Linktree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6621" y="1371600"/>
            <a:ext cx="2647873" cy="2560320"/>
          </a:xfrm>
          <a:prstGeom prst="roundRect">
            <a:avLst/>
          </a:prstGeom>
          <a:solidFill>
            <a:srgbClr val="E3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86621" y="1371600"/>
            <a:ext cx="2647873" cy="73152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3781" y="1554480"/>
            <a:ext cx="237355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5BA2"/>
                </a:solidFill>
                <a:latin typeface="Montserrat"/>
              </a:rPr>
              <a:t>Semana 4 — Otimizar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1965960"/>
            <a:ext cx="237355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5D5D"/>
                </a:solidFill>
                <a:latin typeface="Open Sans"/>
              </a:rPr>
              <a:t>Métricas · ajustes · networking · revisão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7B2C22-768D-6205-BE64-1F721896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10.3 Objetivos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Específicos · Mensuráveis · Alcançáveis · Relevantes · Temporizados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D5D5D"/>
                </a:solidFill>
                <a:latin typeface="Open Sans"/>
              </a:rPr>
              <a:t>❌  "Ter mais seguidores"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Open Sans"/>
              </a:rPr>
              <a:t>✅  "Ganhar 100 seguidores no Instagram em 30 dias através de 5 posts/semana e 10 interações diárias"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5232B"/>
                </a:solidFill>
                <a:latin typeface="Montserrat"/>
              </a:rPr>
              <a:t>Escreva agora 2–3 objetivos SMART para o seu negócio: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5D5D5D"/>
                </a:solidFill>
                <a:latin typeface="Open Sans"/>
              </a:rPr>
              <a:t>1. _______________________________________________</a:t>
            </a:r>
          </a:p>
          <a:p>
            <a:r>
              <a:rPr sz="1400" b="0">
                <a:solidFill>
                  <a:srgbClr val="5D5D5D"/>
                </a:solidFill>
                <a:latin typeface="Open Sans"/>
              </a:rPr>
              <a:t>2. _______________________________________________</a:t>
            </a:r>
          </a:p>
          <a:p>
            <a:r>
              <a:rPr sz="1400" b="0">
                <a:solidFill>
                  <a:srgbClr val="5D5D5D"/>
                </a:solidFill>
                <a:latin typeface="Open Sans"/>
              </a:rPr>
              <a:t>3. _______________________________________________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B68C8F-6CEB-320A-0B3C-8BE3B3B65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10.4–10.5 Recursos, Apoio e Compromisso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Assine o seu compromisso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Guarde links úteis, grupos de apoio e tutoriais recomendados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Eu, __________________, comprometo-me a: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1. Implementar _____ melhorias esta semana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2. Dedicar _____ horas/semana à presença digital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3. Publicar _____ vezes por semana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4. Rever progresso a cada _____ dias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A2A2A"/>
                </a:solidFill>
                <a:latin typeface="Open Sans"/>
              </a:rPr>
              <a:t>•  Assinatura: ________________    Data: ___/___/______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0CC1D2-6958-C02B-9951-13E053F2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5536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Montserrat"/>
              </a:rPr>
              <a:t>MÓDULO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Recursos e Anexos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3EEF7"/>
                </a:solidFill>
                <a:latin typeface="Open Sans"/>
              </a:rPr>
              <a:t>Templates · Links · Glossário · FAQs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11.1–11.2 Templates e Links Úteis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Comece com estes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BA2"/>
                </a:solidFill>
                <a:latin typeface="Montserrat"/>
              </a:rPr>
              <a:t>Templates prontos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Calendário editorial (Excel/Sheets)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Banco de ideias de conteúdo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Scripts de respostas rápidas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Checklist de publicação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B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5232B"/>
                </a:solidFill>
                <a:latin typeface="Montserrat"/>
              </a:rPr>
              <a:t>Links úteis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canva.com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business.facebook.com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linkedin.com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linktr.ee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unsplash.com / pexels.com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godaddy.com · hostinger.pt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25195A-6909-4F5C-2B08-B111722FA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11.3 Glossário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Linguagem comum da presença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CTA — Call to Action (chamada à ação)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Engagement — envolvimento (likes, comentários, partilhas)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Alcance — pessoas que viram o conteúdo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Impressões — vezes que o conteúdo foi exibido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Bio — biografia/descrição do perfil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Feed — linha do tempo de publicações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Stories — conteúdo temporário (24h)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Hashtag — etiqueta # para categorizar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A2A2A"/>
                </a:solidFill>
                <a:latin typeface="Open Sans"/>
              </a:rPr>
              <a:t>•  DM — Direct Message (mensagem direta)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F9F809-C274-8581-4417-0232813B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10058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5BA2"/>
                </a:solidFill>
                <a:latin typeface="Montserrat"/>
              </a:rPr>
              <a:t>11.4 FAQs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D5D5D"/>
                </a:solidFill>
                <a:latin typeface="Open Sans"/>
              </a:rPr>
              <a:t>Respostas rápidas às dúvidas mais comuns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0B5BA2"/>
                </a:solidFill>
                <a:latin typeface="Montserrat"/>
              </a:rPr>
              <a:t>P: Preciso estar em todas as redes?</a:t>
            </a:r>
          </a:p>
          <a:p>
            <a:r>
              <a:rPr sz="1300" b="0">
                <a:solidFill>
                  <a:srgbClr val="5D5D5D"/>
                </a:solidFill>
                <a:latin typeface="Open Sans"/>
              </a:rPr>
              <a:t>R: Não. Escolha 2–3 onde o seu público está mais ativo.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B5BA2"/>
                </a:solidFill>
                <a:latin typeface="Montserrat"/>
              </a:rPr>
              <a:t>P: Quanto tempo até ver resultados?</a:t>
            </a:r>
          </a:p>
          <a:p>
            <a:r>
              <a:rPr sz="1300" b="0">
                <a:solidFill>
                  <a:srgbClr val="5D5D5D"/>
                </a:solidFill>
                <a:latin typeface="Open Sans"/>
              </a:rPr>
              <a:t>R: Consistência é chave. Mínimo 3–6 meses com publicações regulares.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B5BA2"/>
                </a:solidFill>
                <a:latin typeface="Montserrat"/>
              </a:rPr>
              <a:t>P: Posso usar email gratuito?</a:t>
            </a:r>
          </a:p>
          <a:p>
            <a:r>
              <a:rPr sz="1300" b="0">
                <a:solidFill>
                  <a:srgbClr val="5D5D5D"/>
                </a:solidFill>
                <a:latin typeface="Open Sans"/>
              </a:rPr>
              <a:t>R: Pode, mas domínio próprio transmite muito mais profissionalismo.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B5BA2"/>
                </a:solidFill>
                <a:latin typeface="Montserrat"/>
              </a:rPr>
              <a:t>P: Canva gratuito basta?</a:t>
            </a:r>
          </a:p>
          <a:p>
            <a:r>
              <a:rPr sz="1300" b="0">
                <a:solidFill>
                  <a:srgbClr val="5D5D5D"/>
                </a:solidFill>
                <a:latin typeface="Open Sans"/>
              </a:rPr>
              <a:t>R: Sim. O Pro tem extras, mas o gratuito é excelente para começar.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Open Sans"/>
              </a:rPr>
              <a:t>Presença Digital Profissional para Negócios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118DCD-3ABF-1584-711C-A1F99ECCE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322" y="5474398"/>
            <a:ext cx="1919287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D5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ontserrat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3EEF7"/>
                </a:solidFill>
                <a:latin typeface="Open Sans"/>
              </a:rPr>
              <a:t>Presença Digital Profissional para Negócios
Consistência · Clareza · Compromisso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3370</Words>
  <Application>Microsoft Office PowerPoint</Application>
  <PresentationFormat>Widescreen</PresentationFormat>
  <Paragraphs>524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Nicolau Nino</cp:lastModifiedBy>
  <cp:revision>9</cp:revision>
  <dcterms:created xsi:type="dcterms:W3CDTF">2013-01-27T09:14:16Z</dcterms:created>
  <dcterms:modified xsi:type="dcterms:W3CDTF">2026-08-13T07:02:59Z</dcterms:modified>
  <cp:category/>
</cp:coreProperties>
</file>